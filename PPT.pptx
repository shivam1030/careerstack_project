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7" r:id="rId3"/>
    <p:sldId id="288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300" r:id="rId13"/>
    <p:sldId id="303" r:id="rId14"/>
    <p:sldId id="301" r:id="rId15"/>
    <p:sldId id="302" r:id="rId16"/>
    <p:sldId id="286" r:id="rId17"/>
  </p:sldIdLst>
  <p:sldSz cx="12192000" cy="6858000"/>
  <p:notesSz cx="6858000" cy="9144000"/>
  <p:embeddedFontLst>
    <p:embeddedFont>
      <p:font typeface="Pinyon Script" panose="020B0604020202020204" charset="0"/>
      <p:regular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A374E16-BCC7-B939-2A83-A6E192F6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E5583C3B-C8B9-F5C8-4A5C-F0E02F3A1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4415CCE-BD9A-F33C-9E4D-48053B297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97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ECB26F3-4D09-E152-2F4B-2DE6E139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EBF4D665-CBDE-1791-8306-87CB0EE57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1FDD0CD-E6D0-E97F-BBEA-60679A4761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89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489ED68-6012-3A52-42DA-7A31D6D37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AE2C9667-DF0C-4237-136A-69B4F4DBF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36E20D9-7CF5-E250-1623-B44AA42CA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7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55307AE-22F4-F40E-C861-09819D80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B4D7A52D-680D-4C23-EE52-D65529EA5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72B02E1-0E0F-15BD-FA60-699A1646D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24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5213AAE-3208-BC8E-DF2C-2674DC9A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28955083-A309-2CD5-5A5C-144A5C023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8F3B88C-E8BC-4531-32ED-4FE1A01C2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63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23772E79-DBB5-481B-68FA-4BED9EAB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C3CD5E72-46B7-40C8-F4C4-E4D5CFF43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34D1BFB-0559-DEA3-C1AB-B38A9F751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282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03E659B-AECA-B064-1A13-DE15F151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88D18DA3-CBB7-6FAD-51BD-D895A3802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5CD2710-7A38-FCA2-A25A-4487231BA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698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8792D62-C52B-A38F-C7E4-050048DA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E1F37475-EB7E-D09E-0396-06876A2D4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F615878-BEFB-25C0-9C77-5998DE2B7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959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DC1602A-7C75-1128-48B9-1277E8BF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8EC39B8C-1A0A-1834-D028-53A65B3DB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2B63AC9-9CCE-CD60-FA3C-851B2C518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498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2D0372B1-3E68-C122-6C4C-38A70999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5D34C7BB-8EDC-2F9E-5298-64FB65EBF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3D74F80-AEFD-B5D4-EC55-FEE6D1B7E4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67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8387E50-498C-1DE7-8EA6-6982104A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05F98BFA-94F6-387A-C785-0B887AA75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E4B90EF-A78B-9D56-CB03-4875E4124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234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2F07E50-B23C-2CF5-B083-706F1B54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ECF6E25A-91E7-CB90-A451-38329F76F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99A87FB-12DF-F7F4-5C6D-A0D453747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86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116F407-F2D7-3220-BFA7-307A176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0DF88E69-8142-3D61-988E-28AC25EC3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9ACAE7D-78C9-9C69-C0DD-EEB13D487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650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51E694B-66F1-1165-BE2D-F2E7C1BB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E86C81D2-2A6C-E739-00BD-419BC45F4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C92BA04-3F81-DFDA-4D8D-422ABE8B0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926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3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524000" y="982887"/>
            <a:ext cx="9144000" cy="19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School of Computer Science and Engineering</a:t>
            </a:r>
            <a:br>
              <a:rPr lang="en-US" sz="4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36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B.Tech</a:t>
            </a:r>
            <a:r>
              <a:rPr lang="en-US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(CSE) Semester-6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7618660" y="4985658"/>
            <a:ext cx="4553228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Members-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Shivam(CS-2341121)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Saurav Bhatt(CS-23411130)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Ashutosh Gupta(CS-2341638)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solidFill>
                <a:srgbClr val="9E0F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E37BDA01-9BA1-49D2-E85A-665FAC52F8D1}"/>
              </a:ext>
            </a:extLst>
          </p:cNvPr>
          <p:cNvSpPr txBox="1">
            <a:spLocks/>
          </p:cNvSpPr>
          <p:nvPr/>
        </p:nvSpPr>
        <p:spPr>
          <a:xfrm>
            <a:off x="620486" y="3440566"/>
            <a:ext cx="11179628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Title-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CareerStack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AI-Powered Career Development &amp; Skill Tracking Platform </a:t>
            </a:r>
            <a:endParaRPr lang="en-US" b="1" dirty="0">
              <a:solidFill>
                <a:srgbClr val="9E0F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Google Shape;101;p1">
            <a:extLst>
              <a:ext uri="{FF2B5EF4-FFF2-40B4-BE49-F238E27FC236}">
                <a16:creationId xmlns:a16="http://schemas.microsoft.com/office/drawing/2014/main" id="{AE5D53C0-7D9C-0407-9838-59BD2520362B}"/>
              </a:ext>
            </a:extLst>
          </p:cNvPr>
          <p:cNvSpPr txBox="1">
            <a:spLocks/>
          </p:cNvSpPr>
          <p:nvPr/>
        </p:nvSpPr>
        <p:spPr>
          <a:xfrm>
            <a:off x="370115" y="4985658"/>
            <a:ext cx="4857206" cy="100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Guide-</a:t>
            </a:r>
          </a:p>
          <a:p>
            <a:pPr marL="0" indent="0">
              <a:spcBef>
                <a:spcPts val="0"/>
              </a:spcBef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Mr.Shobit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Agarwal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75AD1B3-6AB0-7681-AD1F-710AD81A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A1F14A-9FCD-34C6-2BDB-69EB1A014C9C}"/>
              </a:ext>
            </a:extLst>
          </p:cNvPr>
          <p:cNvSpPr txBox="1"/>
          <p:nvPr/>
        </p:nvSpPr>
        <p:spPr>
          <a:xfrm>
            <a:off x="3349625" y="388620"/>
            <a:ext cx="5492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 of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207CC-37B0-7ECB-F12D-EDB060F88BBC}"/>
              </a:ext>
            </a:extLst>
          </p:cNvPr>
          <p:cNvSpPr txBox="1"/>
          <p:nvPr/>
        </p:nvSpPr>
        <p:spPr>
          <a:xfrm>
            <a:off x="859971" y="2090172"/>
            <a:ext cx="7010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0E8292-6E27-05E6-CCD9-F6D2A371A71C}"/>
              </a:ext>
            </a:extLst>
          </p:cNvPr>
          <p:cNvSpPr/>
          <p:nvPr/>
        </p:nvSpPr>
        <p:spPr>
          <a:xfrm>
            <a:off x="802817" y="230330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9C1F5E-8763-3057-F80B-353A7D45C6DC}"/>
              </a:ext>
            </a:extLst>
          </p:cNvPr>
          <p:cNvSpPr/>
          <p:nvPr/>
        </p:nvSpPr>
        <p:spPr>
          <a:xfrm>
            <a:off x="802818" y="26723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FC3D12-6F22-D846-853B-0CF6831E1A19}"/>
              </a:ext>
            </a:extLst>
          </p:cNvPr>
          <p:cNvSpPr/>
          <p:nvPr/>
        </p:nvSpPr>
        <p:spPr>
          <a:xfrm>
            <a:off x="802819" y="303196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84F234-2E1E-8DF2-D236-BE5E7DA5B0DF}"/>
              </a:ext>
            </a:extLst>
          </p:cNvPr>
          <p:cNvSpPr/>
          <p:nvPr/>
        </p:nvSpPr>
        <p:spPr>
          <a:xfrm>
            <a:off x="802820" y="33978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3C8107-9CD4-4D49-02EE-582D8BE51703}"/>
              </a:ext>
            </a:extLst>
          </p:cNvPr>
          <p:cNvSpPr/>
          <p:nvPr/>
        </p:nvSpPr>
        <p:spPr>
          <a:xfrm>
            <a:off x="802821" y="37669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8136F0-7A6C-2442-C1DB-CBE194D0DB4C}"/>
              </a:ext>
            </a:extLst>
          </p:cNvPr>
          <p:cNvSpPr/>
          <p:nvPr/>
        </p:nvSpPr>
        <p:spPr>
          <a:xfrm>
            <a:off x="802822" y="411382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F9892C-6ED3-BED7-F810-3561C45F38E1}"/>
              </a:ext>
            </a:extLst>
          </p:cNvPr>
          <p:cNvSpPr/>
          <p:nvPr/>
        </p:nvSpPr>
        <p:spPr>
          <a:xfrm>
            <a:off x="802823" y="449561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8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535B57F-C3FF-0A8F-4769-A2D733E3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8ECFF-0278-1889-8A1D-E5009B7E3580}"/>
              </a:ext>
            </a:extLst>
          </p:cNvPr>
          <p:cNvSpPr txBox="1"/>
          <p:nvPr/>
        </p:nvSpPr>
        <p:spPr>
          <a:xfrm>
            <a:off x="5038498" y="378098"/>
            <a:ext cx="2115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887CB-1537-5580-1E1E-1051DF22C9CC}"/>
              </a:ext>
            </a:extLst>
          </p:cNvPr>
          <p:cNvSpPr txBox="1"/>
          <p:nvPr/>
        </p:nvSpPr>
        <p:spPr>
          <a:xfrm>
            <a:off x="335546" y="1439111"/>
            <a:ext cx="1198719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job boards fail to quantify skill gaps and provide targeted learning paths.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CareerStack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Career Framework.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Skill-Match Engine (Set Theory Logic).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Intelligent Recommendation (Gap Coverage).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RESTful API Architecture.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JWT Stateless Authentication.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Seeded industry job roles and skill-mapped courses.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Quantified career readiness.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Personalized upskilling paths.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Aligned with UN SDG Goal 8.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134407-81BB-79E0-AFC8-03DDA4A4BF2F}"/>
              </a:ext>
            </a:extLst>
          </p:cNvPr>
          <p:cNvSpPr/>
          <p:nvPr/>
        </p:nvSpPr>
        <p:spPr>
          <a:xfrm>
            <a:off x="335547" y="16524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54D324-1124-BE95-67C4-7A4120ADD698}"/>
              </a:ext>
            </a:extLst>
          </p:cNvPr>
          <p:cNvSpPr/>
          <p:nvPr/>
        </p:nvSpPr>
        <p:spPr>
          <a:xfrm>
            <a:off x="335547" y="20284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937581-800A-9D4B-B780-1922DDD03356}"/>
              </a:ext>
            </a:extLst>
          </p:cNvPr>
          <p:cNvSpPr/>
          <p:nvPr/>
        </p:nvSpPr>
        <p:spPr>
          <a:xfrm>
            <a:off x="335547" y="23932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A6397C-8FA8-0012-95C9-0036FE4C26D9}"/>
              </a:ext>
            </a:extLst>
          </p:cNvPr>
          <p:cNvSpPr/>
          <p:nvPr/>
        </p:nvSpPr>
        <p:spPr>
          <a:xfrm>
            <a:off x="954672" y="275840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3F903D-3756-B88D-35BC-FA55648D130F}"/>
              </a:ext>
            </a:extLst>
          </p:cNvPr>
          <p:cNvSpPr/>
          <p:nvPr/>
        </p:nvSpPr>
        <p:spPr>
          <a:xfrm>
            <a:off x="954672" y="31210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28CF19-261E-F61B-DB77-045ED4518ACC}"/>
              </a:ext>
            </a:extLst>
          </p:cNvPr>
          <p:cNvSpPr/>
          <p:nvPr/>
        </p:nvSpPr>
        <p:spPr>
          <a:xfrm>
            <a:off x="335546" y="34868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8D4839-A365-50F1-2526-CDA1A8DF0078}"/>
              </a:ext>
            </a:extLst>
          </p:cNvPr>
          <p:cNvSpPr/>
          <p:nvPr/>
        </p:nvSpPr>
        <p:spPr>
          <a:xfrm>
            <a:off x="335546" y="458048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02380DE-BB74-77D0-C76A-588241D59826}"/>
              </a:ext>
            </a:extLst>
          </p:cNvPr>
          <p:cNvSpPr/>
          <p:nvPr/>
        </p:nvSpPr>
        <p:spPr>
          <a:xfrm>
            <a:off x="332001" y="49564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675C6B-786B-9F29-6C26-378207D5F84F}"/>
              </a:ext>
            </a:extLst>
          </p:cNvPr>
          <p:cNvSpPr/>
          <p:nvPr/>
        </p:nvSpPr>
        <p:spPr>
          <a:xfrm>
            <a:off x="953191" y="532102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94CA0E-B1F4-DF16-DE50-462BB7EB6DE0}"/>
              </a:ext>
            </a:extLst>
          </p:cNvPr>
          <p:cNvSpPr/>
          <p:nvPr/>
        </p:nvSpPr>
        <p:spPr>
          <a:xfrm>
            <a:off x="953191" y="56836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CB132C4-F108-DB4E-F548-992BB1123F1A}"/>
              </a:ext>
            </a:extLst>
          </p:cNvPr>
          <p:cNvSpPr/>
          <p:nvPr/>
        </p:nvSpPr>
        <p:spPr>
          <a:xfrm>
            <a:off x="953192" y="60463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257472-0FE7-0C42-3A60-C08BC3B5AC81}"/>
              </a:ext>
            </a:extLst>
          </p:cNvPr>
          <p:cNvSpPr/>
          <p:nvPr/>
        </p:nvSpPr>
        <p:spPr>
          <a:xfrm>
            <a:off x="953190" y="38630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D224B92-E3E9-42BA-33CB-4F7DCD29B49D}"/>
              </a:ext>
            </a:extLst>
          </p:cNvPr>
          <p:cNvSpPr/>
          <p:nvPr/>
        </p:nvSpPr>
        <p:spPr>
          <a:xfrm>
            <a:off x="957689" y="422104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84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C6054F9-39FB-39B4-C09D-5D125D79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03407-4ACF-02AB-5D6C-6994481346A6}"/>
              </a:ext>
            </a:extLst>
          </p:cNvPr>
          <p:cNvSpPr txBox="1"/>
          <p:nvPr/>
        </p:nvSpPr>
        <p:spPr>
          <a:xfrm>
            <a:off x="4488316" y="346815"/>
            <a:ext cx="3215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7F326-D65E-D8AF-A594-93CD92D61C89}"/>
              </a:ext>
            </a:extLst>
          </p:cNvPr>
          <p:cNvSpPr txBox="1"/>
          <p:nvPr/>
        </p:nvSpPr>
        <p:spPr>
          <a:xfrm>
            <a:off x="531243" y="1595021"/>
            <a:ext cx="110551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development is critical due to rapidly changing industry tech stacks.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job listings but lack deep gap analysis.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Support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Skill-Based: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Matches current abilities to role requirements.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Financial-Based: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income growth to visualize progress.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Broad degrees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cannot detect specific industry skill gaps.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Generic courses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leading to inefficient learning paths.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 Multi-tiered framework combining gap quantification with economic growth tracking.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4F233A-460A-89BF-E003-03A13E44F38D}"/>
              </a:ext>
            </a:extLst>
          </p:cNvPr>
          <p:cNvSpPr/>
          <p:nvPr/>
        </p:nvSpPr>
        <p:spPr>
          <a:xfrm>
            <a:off x="508384" y="18175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C0FF01-994E-80DB-176A-FBA4A5EF8CF2}"/>
              </a:ext>
            </a:extLst>
          </p:cNvPr>
          <p:cNvSpPr/>
          <p:nvPr/>
        </p:nvSpPr>
        <p:spPr>
          <a:xfrm>
            <a:off x="508384" y="21842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9C5DD2-040F-AE07-4B2D-9B6074D28EFE}"/>
              </a:ext>
            </a:extLst>
          </p:cNvPr>
          <p:cNvSpPr/>
          <p:nvPr/>
        </p:nvSpPr>
        <p:spPr>
          <a:xfrm>
            <a:off x="508384" y="255096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5F4602-F054-C34C-A659-CF90AF3DD9AB}"/>
              </a:ext>
            </a:extLst>
          </p:cNvPr>
          <p:cNvSpPr/>
          <p:nvPr/>
        </p:nvSpPr>
        <p:spPr>
          <a:xfrm>
            <a:off x="1151321" y="290721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6B53E5-A269-E92A-1793-A3318ACB44B1}"/>
              </a:ext>
            </a:extLst>
          </p:cNvPr>
          <p:cNvSpPr/>
          <p:nvPr/>
        </p:nvSpPr>
        <p:spPr>
          <a:xfrm>
            <a:off x="1151321" y="327335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83E8E1-40B8-9D9E-86BA-6293541052F0}"/>
              </a:ext>
            </a:extLst>
          </p:cNvPr>
          <p:cNvSpPr/>
          <p:nvPr/>
        </p:nvSpPr>
        <p:spPr>
          <a:xfrm>
            <a:off x="508384" y="3651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ADB87A-5B54-6F99-F70F-F7F8346068BA}"/>
              </a:ext>
            </a:extLst>
          </p:cNvPr>
          <p:cNvSpPr/>
          <p:nvPr/>
        </p:nvSpPr>
        <p:spPr>
          <a:xfrm>
            <a:off x="1151321" y="40091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01DF0D9-F160-730A-8BF4-5EF6F8F51895}"/>
              </a:ext>
            </a:extLst>
          </p:cNvPr>
          <p:cNvSpPr/>
          <p:nvPr/>
        </p:nvSpPr>
        <p:spPr>
          <a:xfrm>
            <a:off x="1151322" y="437023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D6B53B-7D92-A6C9-A3EF-F2CD7780BDA8}"/>
              </a:ext>
            </a:extLst>
          </p:cNvPr>
          <p:cNvSpPr/>
          <p:nvPr/>
        </p:nvSpPr>
        <p:spPr>
          <a:xfrm>
            <a:off x="508384" y="47512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55B8A5-B923-C216-C190-640BCF791D05}"/>
              </a:ext>
            </a:extLst>
          </p:cNvPr>
          <p:cNvSpPr/>
          <p:nvPr/>
        </p:nvSpPr>
        <p:spPr>
          <a:xfrm>
            <a:off x="1151322" y="510604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6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DD4C9A3-2B87-02F3-776F-051FF812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D0317-4B60-968C-3AC4-150A1D252091}"/>
              </a:ext>
            </a:extLst>
          </p:cNvPr>
          <p:cNvSpPr txBox="1"/>
          <p:nvPr/>
        </p:nvSpPr>
        <p:spPr>
          <a:xfrm>
            <a:off x="3852379" y="346815"/>
            <a:ext cx="4487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78AC5-8DB2-3B16-02DC-E660DD77BFEE}"/>
              </a:ext>
            </a:extLst>
          </p:cNvPr>
          <p:cNvSpPr txBox="1"/>
          <p:nvPr/>
        </p:nvSpPr>
        <p:spPr>
          <a:xfrm>
            <a:off x="531243" y="1595021"/>
            <a:ext cx="1104313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LinkedIn/Coursera: High course volume but poor personalized gap detection.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Task-Based Models: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shows persistent mismatches between education and tech requirements.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integrated, lightweight systems for small-scale deployment.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cost/paywalls.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match quantification.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No integrated financial growth visibility.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CareerStack’s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zero-framework architecture for accessibility and speed.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996000-0960-DEF4-39D3-F9D2A56C5D2B}"/>
              </a:ext>
            </a:extLst>
          </p:cNvPr>
          <p:cNvSpPr/>
          <p:nvPr/>
        </p:nvSpPr>
        <p:spPr>
          <a:xfrm>
            <a:off x="508384" y="18175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30BE9D-ECA9-2B7C-3F9E-2897F50012E6}"/>
              </a:ext>
            </a:extLst>
          </p:cNvPr>
          <p:cNvSpPr/>
          <p:nvPr/>
        </p:nvSpPr>
        <p:spPr>
          <a:xfrm>
            <a:off x="508384" y="25604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32526C-C710-02C4-4D62-B08B9E3FEF6F}"/>
              </a:ext>
            </a:extLst>
          </p:cNvPr>
          <p:cNvSpPr/>
          <p:nvPr/>
        </p:nvSpPr>
        <p:spPr>
          <a:xfrm>
            <a:off x="508384" y="32716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94E405-4EA8-E2D6-25E3-3CF5AEE003BD}"/>
              </a:ext>
            </a:extLst>
          </p:cNvPr>
          <p:cNvSpPr/>
          <p:nvPr/>
        </p:nvSpPr>
        <p:spPr>
          <a:xfrm>
            <a:off x="508384" y="36267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00252C-4C18-3679-1C01-1076AD3B8299}"/>
              </a:ext>
            </a:extLst>
          </p:cNvPr>
          <p:cNvSpPr/>
          <p:nvPr/>
        </p:nvSpPr>
        <p:spPr>
          <a:xfrm>
            <a:off x="508384" y="51122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369A1F-D0AE-5B7D-E1CC-BC99D91A053F}"/>
              </a:ext>
            </a:extLst>
          </p:cNvPr>
          <p:cNvSpPr/>
          <p:nvPr/>
        </p:nvSpPr>
        <p:spPr>
          <a:xfrm>
            <a:off x="1143384" y="40073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28183C-DE00-D581-9EBE-55BA4BD7D4DA}"/>
              </a:ext>
            </a:extLst>
          </p:cNvPr>
          <p:cNvSpPr/>
          <p:nvPr/>
        </p:nvSpPr>
        <p:spPr>
          <a:xfrm>
            <a:off x="1143383" y="43819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A36E3C-5134-4D9B-42BF-9E80971E9093}"/>
              </a:ext>
            </a:extLst>
          </p:cNvPr>
          <p:cNvSpPr/>
          <p:nvPr/>
        </p:nvSpPr>
        <p:spPr>
          <a:xfrm>
            <a:off x="1143382" y="47566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1156A7-AE38-AB84-8A3E-43920642CFD7}"/>
              </a:ext>
            </a:extLst>
          </p:cNvPr>
          <p:cNvSpPr/>
          <p:nvPr/>
        </p:nvSpPr>
        <p:spPr>
          <a:xfrm>
            <a:off x="1143764" y="546018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0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268D447-3A25-106E-8FD6-0474582A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46656-2AA1-4722-74C9-2ABDCD01BD59}"/>
              </a:ext>
            </a:extLst>
          </p:cNvPr>
          <p:cNvSpPr txBox="1"/>
          <p:nvPr/>
        </p:nvSpPr>
        <p:spPr>
          <a:xfrm>
            <a:off x="3290459" y="346815"/>
            <a:ext cx="5611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(Overview)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1903F-BA7F-9125-8685-1F7EA72BE8AB}"/>
              </a:ext>
            </a:extLst>
          </p:cNvPr>
          <p:cNvSpPr txBox="1"/>
          <p:nvPr/>
        </p:nvSpPr>
        <p:spPr>
          <a:xfrm>
            <a:off x="531244" y="1595021"/>
            <a:ext cx="101917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CareerStack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Vanilla JS &amp; CSS variables (MPA).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&amp; Express.js REST API.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ODM.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Bearer Tokens.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 user skills.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Parallel job requirement fetching.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Skill intersection analysis.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Final course ranking using Gap Coverage algorithm.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7F6380-EB61-9A59-92F1-F6F98958AA25}"/>
              </a:ext>
            </a:extLst>
          </p:cNvPr>
          <p:cNvSpPr/>
          <p:nvPr/>
        </p:nvSpPr>
        <p:spPr>
          <a:xfrm>
            <a:off x="508384" y="18175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E600EB-0585-7DE3-1ACF-F052ED434194}"/>
              </a:ext>
            </a:extLst>
          </p:cNvPr>
          <p:cNvSpPr/>
          <p:nvPr/>
        </p:nvSpPr>
        <p:spPr>
          <a:xfrm>
            <a:off x="508384" y="29081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20D415-0F9F-B300-538A-BB0C9E11C3AF}"/>
              </a:ext>
            </a:extLst>
          </p:cNvPr>
          <p:cNvSpPr/>
          <p:nvPr/>
        </p:nvSpPr>
        <p:spPr>
          <a:xfrm>
            <a:off x="508384" y="40130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348553-9BC4-2266-E588-62A852E92427}"/>
              </a:ext>
            </a:extLst>
          </p:cNvPr>
          <p:cNvSpPr/>
          <p:nvPr/>
        </p:nvSpPr>
        <p:spPr>
          <a:xfrm>
            <a:off x="979872" y="21890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D84BCE-1ECD-5693-E194-1BD027F879F7}"/>
              </a:ext>
            </a:extLst>
          </p:cNvPr>
          <p:cNvSpPr/>
          <p:nvPr/>
        </p:nvSpPr>
        <p:spPr>
          <a:xfrm>
            <a:off x="979872" y="255096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CD3087-905D-F8C7-5FF3-70A7CB3C60D7}"/>
              </a:ext>
            </a:extLst>
          </p:cNvPr>
          <p:cNvSpPr/>
          <p:nvPr/>
        </p:nvSpPr>
        <p:spPr>
          <a:xfrm>
            <a:off x="979871" y="328438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E2BC79-8E7B-D321-061A-E07A474ECFE1}"/>
              </a:ext>
            </a:extLst>
          </p:cNvPr>
          <p:cNvSpPr/>
          <p:nvPr/>
        </p:nvSpPr>
        <p:spPr>
          <a:xfrm>
            <a:off x="979870" y="3651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C6E439-FE94-BDCA-2DD7-1DDE290E5A08}"/>
              </a:ext>
            </a:extLst>
          </p:cNvPr>
          <p:cNvSpPr/>
          <p:nvPr/>
        </p:nvSpPr>
        <p:spPr>
          <a:xfrm>
            <a:off x="979870" y="438928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C90341-B7B9-F084-D62C-E621C4B2762C}"/>
              </a:ext>
            </a:extLst>
          </p:cNvPr>
          <p:cNvSpPr/>
          <p:nvPr/>
        </p:nvSpPr>
        <p:spPr>
          <a:xfrm>
            <a:off x="979870" y="51084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2F51A8E-D8DC-1AAD-411B-47CECD686DAA}"/>
              </a:ext>
            </a:extLst>
          </p:cNvPr>
          <p:cNvSpPr/>
          <p:nvPr/>
        </p:nvSpPr>
        <p:spPr>
          <a:xfrm>
            <a:off x="979870" y="474408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C05B06-ED54-66E0-3F25-4FF72AE71EFD}"/>
              </a:ext>
            </a:extLst>
          </p:cNvPr>
          <p:cNvSpPr/>
          <p:nvPr/>
        </p:nvSpPr>
        <p:spPr>
          <a:xfrm>
            <a:off x="982474" y="54727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58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AEBD686-C867-EB5A-4E25-49DFEDB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42CF1-6C9A-3BB8-8AB6-E220E424E84B}"/>
              </a:ext>
            </a:extLst>
          </p:cNvPr>
          <p:cNvSpPr txBox="1"/>
          <p:nvPr/>
        </p:nvSpPr>
        <p:spPr>
          <a:xfrm>
            <a:off x="3059131" y="346815"/>
            <a:ext cx="7325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Skill-Match Engine (Core Logic)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05641-6D04-EC0B-AC8E-A0AE7843D5BB}"/>
              </a:ext>
            </a:extLst>
          </p:cNvPr>
          <p:cNvSpPr txBox="1"/>
          <p:nvPr/>
        </p:nvSpPr>
        <p:spPr>
          <a:xfrm>
            <a:off x="531244" y="1595021"/>
            <a:ext cx="101917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known skill patterns between user and job role.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(Matched Skills/Requires Skills)x100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ML Engineer.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Engineer.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 Scientist.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High accuracy for specific tech stack identification.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Requires semantic normalization for synonyms.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DE05AC-F4B5-C37E-7FAF-E8295EFE2662}"/>
              </a:ext>
            </a:extLst>
          </p:cNvPr>
          <p:cNvSpPr/>
          <p:nvPr/>
        </p:nvSpPr>
        <p:spPr>
          <a:xfrm>
            <a:off x="508384" y="181514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7B3C21-BCB7-F471-50B4-80B48C3D21C1}"/>
              </a:ext>
            </a:extLst>
          </p:cNvPr>
          <p:cNvSpPr/>
          <p:nvPr/>
        </p:nvSpPr>
        <p:spPr>
          <a:xfrm>
            <a:off x="508384" y="25438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AE447B-8640-8F06-B4D6-5446BCB38A0C}"/>
              </a:ext>
            </a:extLst>
          </p:cNvPr>
          <p:cNvSpPr/>
          <p:nvPr/>
        </p:nvSpPr>
        <p:spPr>
          <a:xfrm>
            <a:off x="1132272" y="291528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33A58A-38D7-6A87-229A-D5A100E2CCF2}"/>
              </a:ext>
            </a:extLst>
          </p:cNvPr>
          <p:cNvSpPr/>
          <p:nvPr/>
        </p:nvSpPr>
        <p:spPr>
          <a:xfrm>
            <a:off x="1132271" y="32724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9D77A1-2283-B247-C19E-F028C00E4620}"/>
              </a:ext>
            </a:extLst>
          </p:cNvPr>
          <p:cNvSpPr/>
          <p:nvPr/>
        </p:nvSpPr>
        <p:spPr>
          <a:xfrm>
            <a:off x="1132270" y="364156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0A96CB-ABD7-773A-DACF-69FFE7889E9F}"/>
              </a:ext>
            </a:extLst>
          </p:cNvPr>
          <p:cNvSpPr/>
          <p:nvPr/>
        </p:nvSpPr>
        <p:spPr>
          <a:xfrm>
            <a:off x="510988" y="401066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82C8405-1B5A-3719-471F-AC70DFE3705A}"/>
              </a:ext>
            </a:extLst>
          </p:cNvPr>
          <p:cNvSpPr/>
          <p:nvPr/>
        </p:nvSpPr>
        <p:spPr>
          <a:xfrm>
            <a:off x="508384" y="473933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84E4AC-F6C8-5D51-0AF4-57E8C176993F}"/>
              </a:ext>
            </a:extLst>
          </p:cNvPr>
          <p:cNvSpPr/>
          <p:nvPr/>
        </p:nvSpPr>
        <p:spPr>
          <a:xfrm>
            <a:off x="1132269" y="438691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F64FCD-95FE-FC72-0DC0-88E200957A48}"/>
              </a:ext>
            </a:extLst>
          </p:cNvPr>
          <p:cNvSpPr/>
          <p:nvPr/>
        </p:nvSpPr>
        <p:spPr>
          <a:xfrm>
            <a:off x="1132268" y="51084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2E0013-401D-0B7B-BBC0-6D95F9C0BED3}"/>
              </a:ext>
            </a:extLst>
          </p:cNvPr>
          <p:cNvSpPr/>
          <p:nvPr/>
        </p:nvSpPr>
        <p:spPr>
          <a:xfrm>
            <a:off x="508384" y="21794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7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04AF8DA-0A04-A1DE-10DD-F8A9DD8E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423A4-9703-5060-D445-7ED6B2FF9CAB}"/>
              </a:ext>
            </a:extLst>
          </p:cNvPr>
          <p:cNvSpPr txBox="1"/>
          <p:nvPr/>
        </p:nvSpPr>
        <p:spPr>
          <a:xfrm>
            <a:off x="2506688" y="346815"/>
            <a:ext cx="7178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Recommendation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A9105-4501-3507-2161-6E551D4125C5}"/>
              </a:ext>
            </a:extLst>
          </p:cNvPr>
          <p:cNvSpPr txBox="1"/>
          <p:nvPr/>
        </p:nvSpPr>
        <p:spPr>
          <a:xfrm>
            <a:off x="531244" y="2212140"/>
            <a:ext cx="10191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Gap Coverage Ranking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 Skills = Required \ User.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courses by count of missing skills covered.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class imbalance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Prioritizes high-impact courses.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Unknown skill gaps and suggests specific upskilling paths.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9AB68F-8041-2677-9EFD-394DAB48C165}"/>
              </a:ext>
            </a:extLst>
          </p:cNvPr>
          <p:cNvSpPr/>
          <p:nvPr/>
        </p:nvSpPr>
        <p:spPr>
          <a:xfrm>
            <a:off x="508384" y="2439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686D06-72F9-0F70-5A49-AB35203F11ED}"/>
              </a:ext>
            </a:extLst>
          </p:cNvPr>
          <p:cNvSpPr/>
          <p:nvPr/>
        </p:nvSpPr>
        <p:spPr>
          <a:xfrm>
            <a:off x="1098934" y="2803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05F4C8-BC6A-C9ED-FD73-40B30C78B834}"/>
              </a:ext>
            </a:extLst>
          </p:cNvPr>
          <p:cNvSpPr/>
          <p:nvPr/>
        </p:nvSpPr>
        <p:spPr>
          <a:xfrm>
            <a:off x="1098934" y="31633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60F515-8660-1A3B-D9B9-7FAC0986BF0A}"/>
              </a:ext>
            </a:extLst>
          </p:cNvPr>
          <p:cNvSpPr/>
          <p:nvPr/>
        </p:nvSpPr>
        <p:spPr>
          <a:xfrm>
            <a:off x="508384" y="35281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56311E-AE75-29E2-432B-DDE303BB21D8}"/>
              </a:ext>
            </a:extLst>
          </p:cNvPr>
          <p:cNvSpPr/>
          <p:nvPr/>
        </p:nvSpPr>
        <p:spPr>
          <a:xfrm>
            <a:off x="1098934" y="389766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E806DA-96C9-0B29-1D68-F9A993DECD26}"/>
              </a:ext>
            </a:extLst>
          </p:cNvPr>
          <p:cNvSpPr/>
          <p:nvPr/>
        </p:nvSpPr>
        <p:spPr>
          <a:xfrm>
            <a:off x="1098934" y="46343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7286EF-F828-05E2-3CD0-1522F27B574A}"/>
              </a:ext>
            </a:extLst>
          </p:cNvPr>
          <p:cNvSpPr/>
          <p:nvPr/>
        </p:nvSpPr>
        <p:spPr>
          <a:xfrm>
            <a:off x="508383" y="42614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97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0EAE239-6C53-23E7-C662-192A016B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0FA422-40FD-B7DA-9512-993B3EA8D632}"/>
              </a:ext>
            </a:extLst>
          </p:cNvPr>
          <p:cNvSpPr txBox="1"/>
          <p:nvPr/>
        </p:nvSpPr>
        <p:spPr>
          <a:xfrm>
            <a:off x="3116288" y="346815"/>
            <a:ext cx="6475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&amp;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C12EE-8A0B-DA97-C70A-7A41E22D3CD1}"/>
              </a:ext>
            </a:extLst>
          </p:cNvPr>
          <p:cNvSpPr txBox="1"/>
          <p:nvPr/>
        </p:nvSpPr>
        <p:spPr>
          <a:xfrm>
            <a:off x="531244" y="2028159"/>
            <a:ext cx="10191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important features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Skills, Role ID.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Source, Monthly Amount.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JWT Authorization Header.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Reduces request complexity.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Ensures stateless, secure data flow.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10 salt rounds.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710902-6780-8F92-484F-5F48A70CB623}"/>
              </a:ext>
            </a:extLst>
          </p:cNvPr>
          <p:cNvSpPr/>
          <p:nvPr/>
        </p:nvSpPr>
        <p:spPr>
          <a:xfrm>
            <a:off x="508383" y="22411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A909FA-D460-993C-3ED8-AE18B03016AB}"/>
              </a:ext>
            </a:extLst>
          </p:cNvPr>
          <p:cNvSpPr/>
          <p:nvPr/>
        </p:nvSpPr>
        <p:spPr>
          <a:xfrm>
            <a:off x="1098934" y="26280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477F6D-DA6B-6E96-BC56-6A070E044B6E}"/>
              </a:ext>
            </a:extLst>
          </p:cNvPr>
          <p:cNvSpPr/>
          <p:nvPr/>
        </p:nvSpPr>
        <p:spPr>
          <a:xfrm>
            <a:off x="1098934" y="299092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A4D19B-E788-6D01-D08D-14DEB626274B}"/>
              </a:ext>
            </a:extLst>
          </p:cNvPr>
          <p:cNvSpPr/>
          <p:nvPr/>
        </p:nvSpPr>
        <p:spPr>
          <a:xfrm>
            <a:off x="1098934" y="33418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DA60B6-02AB-02EA-4625-12F0929A1DAB}"/>
              </a:ext>
            </a:extLst>
          </p:cNvPr>
          <p:cNvSpPr/>
          <p:nvPr/>
        </p:nvSpPr>
        <p:spPr>
          <a:xfrm>
            <a:off x="508383" y="371332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699F76-DC44-C11B-CFAC-08AB7B6383F8}"/>
              </a:ext>
            </a:extLst>
          </p:cNvPr>
          <p:cNvSpPr/>
          <p:nvPr/>
        </p:nvSpPr>
        <p:spPr>
          <a:xfrm>
            <a:off x="508383" y="47991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F5FF93-075E-DFFB-EFC4-91D0D8A017BC}"/>
              </a:ext>
            </a:extLst>
          </p:cNvPr>
          <p:cNvSpPr/>
          <p:nvPr/>
        </p:nvSpPr>
        <p:spPr>
          <a:xfrm>
            <a:off x="1092967" y="4082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B7E99F-EB10-7E6D-27FE-36FF22CA3C0C}"/>
              </a:ext>
            </a:extLst>
          </p:cNvPr>
          <p:cNvSpPr/>
          <p:nvPr/>
        </p:nvSpPr>
        <p:spPr>
          <a:xfrm>
            <a:off x="1092966" y="443335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1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583D3C7-62FD-C6E0-0CA8-E9FA41EB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07CEA-D8F3-8AEC-7BD6-AB03F1A5A549}"/>
              </a:ext>
            </a:extLst>
          </p:cNvPr>
          <p:cNvSpPr txBox="1"/>
          <p:nvPr/>
        </p:nvSpPr>
        <p:spPr>
          <a:xfrm>
            <a:off x="3702176" y="346815"/>
            <a:ext cx="6825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 &amp; Thresholds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EEFA8-DD14-1B95-0F3B-9EBFAF0039BE}"/>
              </a:ext>
            </a:extLst>
          </p:cNvPr>
          <p:cNvSpPr txBox="1"/>
          <p:nvPr/>
        </p:nvSpPr>
        <p:spPr>
          <a:xfrm>
            <a:off x="531244" y="2124417"/>
            <a:ext cx="10191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Match: &gt;= 80%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Match: : &gt;= 60%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Needs Improvement: &lt; 40%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recommends top-6 courses with highest coverage.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information overload and focuses on certain upskilling.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3CCA7B-EA32-832F-E9B9-AB8F7FA4178A}"/>
              </a:ext>
            </a:extLst>
          </p:cNvPr>
          <p:cNvSpPr/>
          <p:nvPr/>
        </p:nvSpPr>
        <p:spPr>
          <a:xfrm>
            <a:off x="508383" y="23374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79B99A-C8B4-24A3-E9B5-7E3A6CD1B517}"/>
              </a:ext>
            </a:extLst>
          </p:cNvPr>
          <p:cNvSpPr/>
          <p:nvPr/>
        </p:nvSpPr>
        <p:spPr>
          <a:xfrm>
            <a:off x="1165608" y="270253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10A56E-B2BA-E082-BDA5-2E298CAAF981}"/>
              </a:ext>
            </a:extLst>
          </p:cNvPr>
          <p:cNvSpPr/>
          <p:nvPr/>
        </p:nvSpPr>
        <p:spPr>
          <a:xfrm>
            <a:off x="1165608" y="306765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AB46C7-1D24-67E5-068E-4681E4FF306E}"/>
              </a:ext>
            </a:extLst>
          </p:cNvPr>
          <p:cNvSpPr/>
          <p:nvPr/>
        </p:nvSpPr>
        <p:spPr>
          <a:xfrm>
            <a:off x="1165608" y="34454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7BC6D8-6B8C-264A-9363-648D8E38282D}"/>
              </a:ext>
            </a:extLst>
          </p:cNvPr>
          <p:cNvSpPr/>
          <p:nvPr/>
        </p:nvSpPr>
        <p:spPr>
          <a:xfrm>
            <a:off x="508383" y="38106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51AFE5-3CC1-12B7-F637-C05CF577F152}"/>
              </a:ext>
            </a:extLst>
          </p:cNvPr>
          <p:cNvSpPr/>
          <p:nvPr/>
        </p:nvSpPr>
        <p:spPr>
          <a:xfrm>
            <a:off x="508383" y="454085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0726276-513C-03CA-1116-16CA90AB544B}"/>
              </a:ext>
            </a:extLst>
          </p:cNvPr>
          <p:cNvSpPr/>
          <p:nvPr/>
        </p:nvSpPr>
        <p:spPr>
          <a:xfrm>
            <a:off x="1165608" y="41665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8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6702F60-8B86-1C8A-E402-BA41C4AF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B5552-63B1-C189-104F-F53579354EE1}"/>
              </a:ext>
            </a:extLst>
          </p:cNvPr>
          <p:cNvSpPr txBox="1"/>
          <p:nvPr/>
        </p:nvSpPr>
        <p:spPr>
          <a:xfrm>
            <a:off x="3566230" y="346815"/>
            <a:ext cx="50595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96962-6D6D-ADF2-E100-A6A29C1BDD8A}"/>
              </a:ext>
            </a:extLst>
          </p:cNvPr>
          <p:cNvSpPr txBox="1"/>
          <p:nvPr/>
        </p:nvSpPr>
        <p:spPr>
          <a:xfrm>
            <a:off x="531244" y="2336965"/>
            <a:ext cx="10191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Curated tech roles and mapped learning resources.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Industry-standard job roles.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Skill-mapped courses from Coursera, YouTube, etc.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Internal Skills array for matching.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External Links for direct upskilling access.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9FAEE5-8225-6B5D-4B95-CD352719BB7C}"/>
              </a:ext>
            </a:extLst>
          </p:cNvPr>
          <p:cNvSpPr/>
          <p:nvPr/>
        </p:nvSpPr>
        <p:spPr>
          <a:xfrm>
            <a:off x="508383" y="2549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8FB3AA-79D4-6F20-7D86-078B9E807774}"/>
              </a:ext>
            </a:extLst>
          </p:cNvPr>
          <p:cNvSpPr/>
          <p:nvPr/>
        </p:nvSpPr>
        <p:spPr>
          <a:xfrm>
            <a:off x="508383" y="291012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5CCF59-AB6A-D45A-6591-6D7724385B07}"/>
              </a:ext>
            </a:extLst>
          </p:cNvPr>
          <p:cNvSpPr/>
          <p:nvPr/>
        </p:nvSpPr>
        <p:spPr>
          <a:xfrm>
            <a:off x="1098934" y="32786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64F99F-C8AC-7CD9-3157-63EDAAFE7334}"/>
              </a:ext>
            </a:extLst>
          </p:cNvPr>
          <p:cNvSpPr/>
          <p:nvPr/>
        </p:nvSpPr>
        <p:spPr>
          <a:xfrm>
            <a:off x="1098934" y="363996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36F39E-DCD8-8221-DAF0-9B46DA8E83E8}"/>
              </a:ext>
            </a:extLst>
          </p:cNvPr>
          <p:cNvSpPr/>
          <p:nvPr/>
        </p:nvSpPr>
        <p:spPr>
          <a:xfrm>
            <a:off x="508382" y="402063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1ECCBF-B0A5-6B61-0414-26E637984868}"/>
              </a:ext>
            </a:extLst>
          </p:cNvPr>
          <p:cNvSpPr/>
          <p:nvPr/>
        </p:nvSpPr>
        <p:spPr>
          <a:xfrm>
            <a:off x="1098932" y="44052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D9C76D-4250-5461-3545-C4205F24F0D3}"/>
              </a:ext>
            </a:extLst>
          </p:cNvPr>
          <p:cNvSpPr/>
          <p:nvPr/>
        </p:nvSpPr>
        <p:spPr>
          <a:xfrm>
            <a:off x="1098931" y="476500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47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DC4B490-01FC-66B5-FC4F-F14A916F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6030F-A3DB-32E8-5F34-764D2057972A}"/>
              </a:ext>
            </a:extLst>
          </p:cNvPr>
          <p:cNvSpPr txBox="1"/>
          <p:nvPr/>
        </p:nvSpPr>
        <p:spPr>
          <a:xfrm>
            <a:off x="5052685" y="346815"/>
            <a:ext cx="20866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CFEB0-46DA-8C10-C12C-BF403F93925D}"/>
              </a:ext>
            </a:extLst>
          </p:cNvPr>
          <p:cNvSpPr txBox="1"/>
          <p:nvPr/>
        </p:nvSpPr>
        <p:spPr>
          <a:xfrm>
            <a:off x="550294" y="2546514"/>
            <a:ext cx="101917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Accuracy: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keyword precision.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Login Time: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192ms (with hashing).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Fetch Latency: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45ms.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Recommend Latency: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38ms.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Growth Tracked: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visualized 200% growth in testing.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B8BADA-A520-06BF-F5CC-F5439B6EAB97}"/>
              </a:ext>
            </a:extLst>
          </p:cNvPr>
          <p:cNvSpPr/>
          <p:nvPr/>
        </p:nvSpPr>
        <p:spPr>
          <a:xfrm>
            <a:off x="527433" y="275950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874620-0AD2-F333-0A14-B206E8B86DAB}"/>
              </a:ext>
            </a:extLst>
          </p:cNvPr>
          <p:cNvSpPr/>
          <p:nvPr/>
        </p:nvSpPr>
        <p:spPr>
          <a:xfrm>
            <a:off x="527433" y="312621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93CF46-9699-CE9E-6659-F44E96D3A37F}"/>
              </a:ext>
            </a:extLst>
          </p:cNvPr>
          <p:cNvSpPr/>
          <p:nvPr/>
        </p:nvSpPr>
        <p:spPr>
          <a:xfrm>
            <a:off x="527433" y="34929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56A5C5-B6D2-B9DE-E2D5-ABE8D91E24A2}"/>
              </a:ext>
            </a:extLst>
          </p:cNvPr>
          <p:cNvSpPr/>
          <p:nvPr/>
        </p:nvSpPr>
        <p:spPr>
          <a:xfrm>
            <a:off x="527433" y="38596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5EE58D-DBB3-11DB-00AE-CC75A1EFDA07}"/>
              </a:ext>
            </a:extLst>
          </p:cNvPr>
          <p:cNvSpPr/>
          <p:nvPr/>
        </p:nvSpPr>
        <p:spPr>
          <a:xfrm>
            <a:off x="527433" y="42263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637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32673C3-F92C-23D0-727B-5B1CF770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AF0C5-3328-E86C-B9C5-17A127638FA3}"/>
              </a:ext>
            </a:extLst>
          </p:cNvPr>
          <p:cNvSpPr txBox="1"/>
          <p:nvPr/>
        </p:nvSpPr>
        <p:spPr>
          <a:xfrm>
            <a:off x="4633874" y="346815"/>
            <a:ext cx="292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8318D9-07F6-4E60-CF99-A0AA5F79E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11767"/>
              </p:ext>
            </p:extLst>
          </p:nvPr>
        </p:nvGraphicFramePr>
        <p:xfrm>
          <a:off x="349249" y="1960185"/>
          <a:ext cx="11493501" cy="2590760"/>
        </p:xfrm>
        <a:graphic>
          <a:graphicData uri="http://schemas.openxmlformats.org/drawingml/2006/table">
            <a:tbl>
              <a:tblPr/>
              <a:tblGrid>
                <a:gridCol w="3831167">
                  <a:extLst>
                    <a:ext uri="{9D8B030D-6E8A-4147-A177-3AD203B41FA5}">
                      <a16:colId xmlns:a16="http://schemas.microsoft.com/office/drawing/2014/main" val="2804514445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142920369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1862361189"/>
                    </a:ext>
                  </a:extLst>
                </a:gridCol>
              </a:tblGrid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Job 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CareerStack</a:t>
                      </a: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(Proposed)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16664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Detail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Title Match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Quantified % Match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25818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bsent</a:t>
                      </a: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of Missing Skills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38304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Upskilling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Sponsored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Gap-Coverage Ranking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7636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7746B6-E470-2C59-72C3-BC040D946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455358"/>
              </p:ext>
            </p:extLst>
          </p:nvPr>
        </p:nvGraphicFramePr>
        <p:xfrm>
          <a:off x="349248" y="4550945"/>
          <a:ext cx="11493501" cy="2590760"/>
        </p:xfrm>
        <a:graphic>
          <a:graphicData uri="http://schemas.openxmlformats.org/drawingml/2006/table">
            <a:tbl>
              <a:tblPr/>
              <a:tblGrid>
                <a:gridCol w="3831167">
                  <a:extLst>
                    <a:ext uri="{9D8B030D-6E8A-4147-A177-3AD203B41FA5}">
                      <a16:colId xmlns:a16="http://schemas.microsoft.com/office/drawing/2014/main" val="2804514445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142920369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1862361189"/>
                    </a:ext>
                  </a:extLst>
                </a:gridCol>
              </a:tblGrid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Visibility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Integrated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Growth Tracking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16664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25818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38304"/>
                  </a:ext>
                </a:extLst>
              </a:tr>
              <a:tr h="6476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76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82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6A6C269-570A-8D89-07F5-09B67E18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91D20-AF49-D45F-9899-1B3426DEFDA2}"/>
              </a:ext>
            </a:extLst>
          </p:cNvPr>
          <p:cNvSpPr txBox="1"/>
          <p:nvPr/>
        </p:nvSpPr>
        <p:spPr>
          <a:xfrm>
            <a:off x="4752320" y="346815"/>
            <a:ext cx="2687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DC035-BBE7-D4DC-87A6-4C65F8CB7E20}"/>
              </a:ext>
            </a:extLst>
          </p:cNvPr>
          <p:cNvSpPr txBox="1"/>
          <p:nvPr/>
        </p:nvSpPr>
        <p:spPr>
          <a:xfrm>
            <a:off x="474092" y="2261622"/>
            <a:ext cx="10191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Multi-tiered career intelligence platform.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Low-latency RESTful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Efficient zero-framework frontend.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 skill-to-course coverage ranking.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Ready for institutional career guidance use.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A0D289-F43A-AB11-7F72-05228A58F76C}"/>
              </a:ext>
            </a:extLst>
          </p:cNvPr>
          <p:cNvSpPr/>
          <p:nvPr/>
        </p:nvSpPr>
        <p:spPr>
          <a:xfrm>
            <a:off x="451232" y="248253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823F05-5EC6-880C-7D8B-1AF8DB9A990A}"/>
              </a:ext>
            </a:extLst>
          </p:cNvPr>
          <p:cNvSpPr/>
          <p:nvPr/>
        </p:nvSpPr>
        <p:spPr>
          <a:xfrm>
            <a:off x="454628" y="284686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7295A2-DB13-9F16-9E8A-70F4FEA7FCFB}"/>
              </a:ext>
            </a:extLst>
          </p:cNvPr>
          <p:cNvSpPr/>
          <p:nvPr/>
        </p:nvSpPr>
        <p:spPr>
          <a:xfrm>
            <a:off x="1091787" y="321837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EE99C2-1CBA-FEAC-D3E3-A5C7FDAE520F}"/>
              </a:ext>
            </a:extLst>
          </p:cNvPr>
          <p:cNvSpPr/>
          <p:nvPr/>
        </p:nvSpPr>
        <p:spPr>
          <a:xfrm>
            <a:off x="1091787" y="35775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00D705-2310-C11A-5BBC-18DE22407A45}"/>
              </a:ext>
            </a:extLst>
          </p:cNvPr>
          <p:cNvSpPr/>
          <p:nvPr/>
        </p:nvSpPr>
        <p:spPr>
          <a:xfrm>
            <a:off x="1091787" y="39439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D89B7F-BD48-10C5-E2F7-18BB625F96A8}"/>
              </a:ext>
            </a:extLst>
          </p:cNvPr>
          <p:cNvSpPr/>
          <p:nvPr/>
        </p:nvSpPr>
        <p:spPr>
          <a:xfrm>
            <a:off x="451232" y="43083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4FF4C5-3799-FE3E-85DC-BDC99478812B}"/>
              </a:ext>
            </a:extLst>
          </p:cNvPr>
          <p:cNvSpPr/>
          <p:nvPr/>
        </p:nvSpPr>
        <p:spPr>
          <a:xfrm>
            <a:off x="451232" y="46726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00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92819D2-ADD9-40C5-ACF5-23BFEAD4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780E1-EE06-432D-88FC-8D9F3E0E7A67}"/>
              </a:ext>
            </a:extLst>
          </p:cNvPr>
          <p:cNvSpPr txBox="1"/>
          <p:nvPr/>
        </p:nvSpPr>
        <p:spPr>
          <a:xfrm>
            <a:off x="2894289" y="346815"/>
            <a:ext cx="6403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64B9E-9A73-CECB-1D32-43881AA187BF}"/>
              </a:ext>
            </a:extLst>
          </p:cNvPr>
          <p:cNvSpPr txBox="1"/>
          <p:nvPr/>
        </p:nvSpPr>
        <p:spPr>
          <a:xfrm>
            <a:off x="531244" y="2256767"/>
            <a:ext cx="10191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CareerStack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AI-Powered Career Development &amp; Skill Tracking Platform.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Methodology.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Comparative Analysis.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Practical applicability for UN SDG Goal 8.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5B98D9-A07A-DD90-4AB9-D00EFAAC4FB5}"/>
              </a:ext>
            </a:extLst>
          </p:cNvPr>
          <p:cNvSpPr/>
          <p:nvPr/>
        </p:nvSpPr>
        <p:spPr>
          <a:xfrm>
            <a:off x="508383" y="246975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672614-8A4C-3FE3-4894-36BAF817262D}"/>
              </a:ext>
            </a:extLst>
          </p:cNvPr>
          <p:cNvSpPr/>
          <p:nvPr/>
        </p:nvSpPr>
        <p:spPr>
          <a:xfrm>
            <a:off x="508383" y="320794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8E5C74-6FEB-D957-00D7-50BBCC05722D}"/>
              </a:ext>
            </a:extLst>
          </p:cNvPr>
          <p:cNvSpPr/>
          <p:nvPr/>
        </p:nvSpPr>
        <p:spPr>
          <a:xfrm>
            <a:off x="1133670" y="35835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4C61DB-A2FC-3A1E-ECCF-FF65CB29823E}"/>
              </a:ext>
            </a:extLst>
          </p:cNvPr>
          <p:cNvSpPr/>
          <p:nvPr/>
        </p:nvSpPr>
        <p:spPr>
          <a:xfrm>
            <a:off x="1135828" y="39437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5B5752-8E0F-6B94-AB10-448EC47910A7}"/>
              </a:ext>
            </a:extLst>
          </p:cNvPr>
          <p:cNvSpPr/>
          <p:nvPr/>
        </p:nvSpPr>
        <p:spPr>
          <a:xfrm>
            <a:off x="1141795" y="430807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4954B6-DF43-ACBA-2359-BF489F7A1C20}"/>
              </a:ext>
            </a:extLst>
          </p:cNvPr>
          <p:cNvSpPr/>
          <p:nvPr/>
        </p:nvSpPr>
        <p:spPr>
          <a:xfrm>
            <a:off x="508383" y="46652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8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00"/>
              <a:buFont typeface="Pinyon Script"/>
              <a:buNone/>
            </a:pPr>
            <a:r>
              <a:rPr lang="en-US" sz="17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Pinyon Script"/>
              </a:rPr>
              <a:t>Thank You</a:t>
            </a:r>
            <a:endParaRPr sz="17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B31470-4401-6778-E29D-1194CC3182B2}"/>
              </a:ext>
            </a:extLst>
          </p:cNvPr>
          <p:cNvSpPr txBox="1"/>
          <p:nvPr/>
        </p:nvSpPr>
        <p:spPr>
          <a:xfrm>
            <a:off x="4644572" y="4005943"/>
            <a:ext cx="2902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815</Words>
  <Application>Microsoft Office PowerPoint</Application>
  <PresentationFormat>Widescreen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Play</vt:lpstr>
      <vt:lpstr>Arial</vt:lpstr>
      <vt:lpstr>Pinyon Script</vt:lpstr>
      <vt:lpstr>Times New Roman</vt:lpstr>
      <vt:lpstr>Office Theme</vt:lpstr>
      <vt:lpstr>School of Computer Science and Engineering B.Tech (CSE) Semester-6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Saroliya</dc:creator>
  <cp:lastModifiedBy>Shivam Chaudhary</cp:lastModifiedBy>
  <cp:revision>8</cp:revision>
  <dcterms:created xsi:type="dcterms:W3CDTF">2025-07-19T19:52:25Z</dcterms:created>
  <dcterms:modified xsi:type="dcterms:W3CDTF">2026-05-04T13:01:25Z</dcterms:modified>
</cp:coreProperties>
</file>